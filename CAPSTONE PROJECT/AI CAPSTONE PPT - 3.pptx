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0" r:id="rId3"/>
    <p:sldId id="263" r:id="rId4"/>
    <p:sldId id="257" r:id="rId5"/>
    <p:sldId id="264" r:id="rId6"/>
    <p:sldId id="265" r:id="rId7"/>
    <p:sldId id="258" r:id="rId8"/>
    <p:sldId id="261" r:id="rId9"/>
    <p:sldId id="262" r:id="rId10"/>
    <p:sldId id="268" r:id="rId11"/>
    <p:sldId id="270" r:id="rId12"/>
    <p:sldId id="266" r:id="rId13"/>
    <p:sldId id="259"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9BEC6D-5992-4B51-A08D-DC64CBEB4A51}" type="datetimeFigureOut">
              <a:rPr lang="en-IN" smtClean="0"/>
              <a:t>27-08-2026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615BB-F16E-4350-9050-8A9802776BC0}" type="slidenum">
              <a:rPr lang="en-IN" smtClean="0"/>
              <a:t>‹#›</a:t>
            </a:fld>
            <a:endParaRPr lang="en-IN"/>
          </a:p>
        </p:txBody>
      </p:sp>
    </p:spTree>
    <p:extLst>
      <p:ext uri="{BB962C8B-B14F-4D97-AF65-F5344CB8AC3E}">
        <p14:creationId xmlns:p14="http://schemas.microsoft.com/office/powerpoint/2010/main" val="648171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D556-3AA6-3791-2F83-AE2A20503F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A4FE69-8E6C-577D-9354-7F35DCF678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E5F5F5-4255-C5BB-8C2D-AB63C71C332C}"/>
              </a:ext>
            </a:extLst>
          </p:cNvPr>
          <p:cNvSpPr>
            <a:spLocks noGrp="1"/>
          </p:cNvSpPr>
          <p:nvPr>
            <p:ph type="dt" sz="half" idx="10"/>
          </p:nvPr>
        </p:nvSpPr>
        <p:spPr/>
        <p:txBody>
          <a:bodyPr/>
          <a:lstStyle/>
          <a:p>
            <a:fld id="{8AB3EECA-6B15-48FB-91CE-7BFFC76533A4}" type="datetime1">
              <a:rPr lang="en-IN" smtClean="0"/>
              <a:t>27-08-2026</a:t>
            </a:fld>
            <a:endParaRPr lang="en-IN"/>
          </a:p>
        </p:txBody>
      </p:sp>
      <p:sp>
        <p:nvSpPr>
          <p:cNvPr id="5" name="Footer Placeholder 4">
            <a:extLst>
              <a:ext uri="{FF2B5EF4-FFF2-40B4-BE49-F238E27FC236}">
                <a16:creationId xmlns:a16="http://schemas.microsoft.com/office/drawing/2014/main" id="{7430BB87-0E89-912B-FBEA-0436B7AB8E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0B82D4-49CE-30A4-660A-6AC9ABB97ABE}"/>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1054906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0D2CB-A39F-06C0-0565-CDB18C3C53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B60596-F446-5BFA-82DB-E73E77DB06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F02020-0638-67D7-DC36-CC95D26F0F21}"/>
              </a:ext>
            </a:extLst>
          </p:cNvPr>
          <p:cNvSpPr>
            <a:spLocks noGrp="1"/>
          </p:cNvSpPr>
          <p:nvPr>
            <p:ph type="dt" sz="half" idx="10"/>
          </p:nvPr>
        </p:nvSpPr>
        <p:spPr/>
        <p:txBody>
          <a:bodyPr/>
          <a:lstStyle/>
          <a:p>
            <a:fld id="{1E7FBF78-5344-4046-9A7E-E4357B9B6C59}" type="datetime1">
              <a:rPr lang="en-IN" smtClean="0"/>
              <a:t>27-08-2026</a:t>
            </a:fld>
            <a:endParaRPr lang="en-IN"/>
          </a:p>
        </p:txBody>
      </p:sp>
      <p:sp>
        <p:nvSpPr>
          <p:cNvPr id="5" name="Footer Placeholder 4">
            <a:extLst>
              <a:ext uri="{FF2B5EF4-FFF2-40B4-BE49-F238E27FC236}">
                <a16:creationId xmlns:a16="http://schemas.microsoft.com/office/drawing/2014/main" id="{F7BC7B0E-142E-B480-3CCB-3CCF910484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663AEE-85F0-2C50-6719-778D491F462D}"/>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1940207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CB105-9A85-D046-33C3-23A3A68F72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5694D7-C23B-C4CD-3460-F18BDC8B22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C973CA-2AE2-D297-BB0F-A5AD3D49B247}"/>
              </a:ext>
            </a:extLst>
          </p:cNvPr>
          <p:cNvSpPr>
            <a:spLocks noGrp="1"/>
          </p:cNvSpPr>
          <p:nvPr>
            <p:ph type="dt" sz="half" idx="10"/>
          </p:nvPr>
        </p:nvSpPr>
        <p:spPr/>
        <p:txBody>
          <a:bodyPr/>
          <a:lstStyle/>
          <a:p>
            <a:fld id="{9DC484E6-1265-4865-A306-F7EC5F621F57}" type="datetime1">
              <a:rPr lang="en-IN" smtClean="0"/>
              <a:t>27-08-2026</a:t>
            </a:fld>
            <a:endParaRPr lang="en-IN"/>
          </a:p>
        </p:txBody>
      </p:sp>
      <p:sp>
        <p:nvSpPr>
          <p:cNvPr id="5" name="Footer Placeholder 4">
            <a:extLst>
              <a:ext uri="{FF2B5EF4-FFF2-40B4-BE49-F238E27FC236}">
                <a16:creationId xmlns:a16="http://schemas.microsoft.com/office/drawing/2014/main" id="{6C74E553-F9AC-3AC1-381F-996C25AB82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231FF7-E079-6DC0-C01E-EEC6516BCBF3}"/>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58073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62C62-4313-0316-0B20-2EAEE61ED2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CAF792-CAA2-6AD4-B003-1188BA9D8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43F279-7342-F787-1ADA-668FB57999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31DA95-53D6-E7EF-72D4-8C0C0728C443}"/>
              </a:ext>
            </a:extLst>
          </p:cNvPr>
          <p:cNvSpPr>
            <a:spLocks noGrp="1"/>
          </p:cNvSpPr>
          <p:nvPr>
            <p:ph type="dt" sz="half" idx="10"/>
          </p:nvPr>
        </p:nvSpPr>
        <p:spPr/>
        <p:txBody>
          <a:bodyPr/>
          <a:lstStyle/>
          <a:p>
            <a:fld id="{82BCDBCE-4F48-4222-A33B-E690D2E2DCCE}" type="datetime1">
              <a:rPr lang="en-IN" smtClean="0"/>
              <a:t>27-08-2026</a:t>
            </a:fld>
            <a:endParaRPr lang="en-IN"/>
          </a:p>
        </p:txBody>
      </p:sp>
      <p:sp>
        <p:nvSpPr>
          <p:cNvPr id="6" name="Footer Placeholder 5">
            <a:extLst>
              <a:ext uri="{FF2B5EF4-FFF2-40B4-BE49-F238E27FC236}">
                <a16:creationId xmlns:a16="http://schemas.microsoft.com/office/drawing/2014/main" id="{11830D42-58AC-FA67-526B-3F1A45F2E8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CF4361-76F9-CCED-BB2E-14459B0A5A28}"/>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1379739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76F11-3364-1DDA-0401-38C33BD9D6F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B40918-5233-16E0-275F-C54372DE57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CDA504-77D3-AD31-42EF-FC12F85FDC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39C126-321A-4658-485F-FCEC0ADFD7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3FB09E-64FC-DD8B-23DC-624A9ACD3C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F0BEEA3-D78A-0F62-CBE3-E77A506755A4}"/>
              </a:ext>
            </a:extLst>
          </p:cNvPr>
          <p:cNvSpPr>
            <a:spLocks noGrp="1"/>
          </p:cNvSpPr>
          <p:nvPr>
            <p:ph type="dt" sz="half" idx="10"/>
          </p:nvPr>
        </p:nvSpPr>
        <p:spPr/>
        <p:txBody>
          <a:bodyPr/>
          <a:lstStyle/>
          <a:p>
            <a:fld id="{C269C744-95CD-4AB9-9B76-884D8352DB05}" type="datetime1">
              <a:rPr lang="en-IN" smtClean="0"/>
              <a:t>27-08-2026</a:t>
            </a:fld>
            <a:endParaRPr lang="en-IN"/>
          </a:p>
        </p:txBody>
      </p:sp>
      <p:sp>
        <p:nvSpPr>
          <p:cNvPr id="8" name="Footer Placeholder 7">
            <a:extLst>
              <a:ext uri="{FF2B5EF4-FFF2-40B4-BE49-F238E27FC236}">
                <a16:creationId xmlns:a16="http://schemas.microsoft.com/office/drawing/2014/main" id="{BE509D56-901A-BEE5-1343-C24D16B3F5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55911B-997B-DE8A-CCF4-AF6E83779A52}"/>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248903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00DD4-5EE6-3ADC-04F6-63343A2DA55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888E4B-E975-1CE4-987C-1AA0137826D4}"/>
              </a:ext>
            </a:extLst>
          </p:cNvPr>
          <p:cNvSpPr>
            <a:spLocks noGrp="1"/>
          </p:cNvSpPr>
          <p:nvPr>
            <p:ph type="dt" sz="half" idx="10"/>
          </p:nvPr>
        </p:nvSpPr>
        <p:spPr/>
        <p:txBody>
          <a:bodyPr/>
          <a:lstStyle/>
          <a:p>
            <a:fld id="{5CC10E85-3462-494D-A4DE-ABFEAE9EFBC3}" type="datetime1">
              <a:rPr lang="en-IN" smtClean="0"/>
              <a:t>27-08-2026</a:t>
            </a:fld>
            <a:endParaRPr lang="en-IN"/>
          </a:p>
        </p:txBody>
      </p:sp>
      <p:sp>
        <p:nvSpPr>
          <p:cNvPr id="4" name="Footer Placeholder 3">
            <a:extLst>
              <a:ext uri="{FF2B5EF4-FFF2-40B4-BE49-F238E27FC236}">
                <a16:creationId xmlns:a16="http://schemas.microsoft.com/office/drawing/2014/main" id="{A5BA1F7C-4648-E3E0-5610-6E95FD6920D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8C84F4-429B-9F16-78F1-B420EBB1DDF8}"/>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3438363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34B423-567A-BA98-5449-F0D03EA83EB3}"/>
              </a:ext>
            </a:extLst>
          </p:cNvPr>
          <p:cNvSpPr>
            <a:spLocks noGrp="1"/>
          </p:cNvSpPr>
          <p:nvPr>
            <p:ph type="dt" sz="half" idx="10"/>
          </p:nvPr>
        </p:nvSpPr>
        <p:spPr/>
        <p:txBody>
          <a:bodyPr/>
          <a:lstStyle/>
          <a:p>
            <a:fld id="{737CCD98-91A6-46AE-93BB-F6F785ECE7A4}" type="datetime1">
              <a:rPr lang="en-IN" smtClean="0"/>
              <a:t>27-08-2026</a:t>
            </a:fld>
            <a:endParaRPr lang="en-IN"/>
          </a:p>
        </p:txBody>
      </p:sp>
      <p:sp>
        <p:nvSpPr>
          <p:cNvPr id="3" name="Footer Placeholder 2">
            <a:extLst>
              <a:ext uri="{FF2B5EF4-FFF2-40B4-BE49-F238E27FC236}">
                <a16:creationId xmlns:a16="http://schemas.microsoft.com/office/drawing/2014/main" id="{1E77ECFB-32CB-03BD-1977-C9358C77CB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08B4D1-31DE-2F87-4428-185E2F33ECD6}"/>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2389621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77758-5B3B-517A-4B14-EADF90EEC5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569455-32AE-8DAF-6A4D-F87C23D668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F506A18-A076-6FE7-CC02-32E7B1F755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474D4-0FA3-00FE-04C7-6B2AE42BD234}"/>
              </a:ext>
            </a:extLst>
          </p:cNvPr>
          <p:cNvSpPr>
            <a:spLocks noGrp="1"/>
          </p:cNvSpPr>
          <p:nvPr>
            <p:ph type="dt" sz="half" idx="10"/>
          </p:nvPr>
        </p:nvSpPr>
        <p:spPr/>
        <p:txBody>
          <a:bodyPr/>
          <a:lstStyle/>
          <a:p>
            <a:fld id="{7739C04A-2AD4-4322-AA4C-3CD831285892}" type="datetime1">
              <a:rPr lang="en-IN" smtClean="0"/>
              <a:t>27-08-2026</a:t>
            </a:fld>
            <a:endParaRPr lang="en-IN"/>
          </a:p>
        </p:txBody>
      </p:sp>
      <p:sp>
        <p:nvSpPr>
          <p:cNvPr id="6" name="Footer Placeholder 5">
            <a:extLst>
              <a:ext uri="{FF2B5EF4-FFF2-40B4-BE49-F238E27FC236}">
                <a16:creationId xmlns:a16="http://schemas.microsoft.com/office/drawing/2014/main" id="{8E59CC91-255A-3B24-80F9-A0A2D32C73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DFB211-2E80-9A7C-BFE8-928855C26A32}"/>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4141266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B139-899E-CAEA-2911-295B023BED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D32D01-3203-E443-2292-A769A0A058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BB7B2D-0625-84F6-F466-4F776EA73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6DDE5C-04E2-8B37-4B0D-BA34B2BCF81D}"/>
              </a:ext>
            </a:extLst>
          </p:cNvPr>
          <p:cNvSpPr>
            <a:spLocks noGrp="1"/>
          </p:cNvSpPr>
          <p:nvPr>
            <p:ph type="dt" sz="half" idx="10"/>
          </p:nvPr>
        </p:nvSpPr>
        <p:spPr/>
        <p:txBody>
          <a:bodyPr/>
          <a:lstStyle/>
          <a:p>
            <a:fld id="{018A90A7-0588-4908-9E0D-CED706F4EC1D}" type="datetime1">
              <a:rPr lang="en-IN" smtClean="0"/>
              <a:t>27-08-2026</a:t>
            </a:fld>
            <a:endParaRPr lang="en-IN"/>
          </a:p>
        </p:txBody>
      </p:sp>
      <p:sp>
        <p:nvSpPr>
          <p:cNvPr id="6" name="Footer Placeholder 5">
            <a:extLst>
              <a:ext uri="{FF2B5EF4-FFF2-40B4-BE49-F238E27FC236}">
                <a16:creationId xmlns:a16="http://schemas.microsoft.com/office/drawing/2014/main" id="{A35567F0-BB66-8375-4C4C-A884D753DB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926DE9-34B6-318D-0D9C-EFCA06950006}"/>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410285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5764E-D905-F6C7-4D71-033E0C695A1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2C81AB-B246-B999-B07A-DAA4BA9C71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CC74CC-7F4F-717C-0DFC-B8547E72C5A1}"/>
              </a:ext>
            </a:extLst>
          </p:cNvPr>
          <p:cNvSpPr>
            <a:spLocks noGrp="1"/>
          </p:cNvSpPr>
          <p:nvPr>
            <p:ph type="dt" sz="half" idx="10"/>
          </p:nvPr>
        </p:nvSpPr>
        <p:spPr/>
        <p:txBody>
          <a:bodyPr/>
          <a:lstStyle/>
          <a:p>
            <a:fld id="{998F22A0-ACD3-4B26-B5F3-B849AB2D5596}" type="datetime1">
              <a:rPr lang="en-IN" smtClean="0"/>
              <a:t>27-08-2026</a:t>
            </a:fld>
            <a:endParaRPr lang="en-IN"/>
          </a:p>
        </p:txBody>
      </p:sp>
      <p:sp>
        <p:nvSpPr>
          <p:cNvPr id="5" name="Footer Placeholder 4">
            <a:extLst>
              <a:ext uri="{FF2B5EF4-FFF2-40B4-BE49-F238E27FC236}">
                <a16:creationId xmlns:a16="http://schemas.microsoft.com/office/drawing/2014/main" id="{4069E232-1EB7-2A49-8E64-23D42A9AFC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9BB684-437E-5AF1-7BDB-1E82393DE5EB}"/>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105122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03B6A9-5C97-CFBA-A066-4E17AFBF60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409406-6B20-A5E2-4093-36F4168E71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C29ECE-7C6E-2558-432E-4A189095EBF3}"/>
              </a:ext>
            </a:extLst>
          </p:cNvPr>
          <p:cNvSpPr>
            <a:spLocks noGrp="1"/>
          </p:cNvSpPr>
          <p:nvPr>
            <p:ph type="dt" sz="half" idx="10"/>
          </p:nvPr>
        </p:nvSpPr>
        <p:spPr/>
        <p:txBody>
          <a:bodyPr/>
          <a:lstStyle/>
          <a:p>
            <a:fld id="{D5995C6D-72FA-4BAF-BED4-B77671299F37}" type="datetime1">
              <a:rPr lang="en-IN" smtClean="0"/>
              <a:t>27-08-2026</a:t>
            </a:fld>
            <a:endParaRPr lang="en-IN"/>
          </a:p>
        </p:txBody>
      </p:sp>
      <p:sp>
        <p:nvSpPr>
          <p:cNvPr id="5" name="Footer Placeholder 4">
            <a:extLst>
              <a:ext uri="{FF2B5EF4-FFF2-40B4-BE49-F238E27FC236}">
                <a16:creationId xmlns:a16="http://schemas.microsoft.com/office/drawing/2014/main" id="{2CCDCD2E-3F2B-165E-FFFF-BB8F21809B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16800-0736-C91A-2F8D-E6F5ADC6481F}"/>
              </a:ext>
            </a:extLst>
          </p:cNvPr>
          <p:cNvSpPr>
            <a:spLocks noGrp="1"/>
          </p:cNvSpPr>
          <p:nvPr>
            <p:ph type="sldNum" sz="quarter" idx="12"/>
          </p:nvPr>
        </p:nvSpPr>
        <p:spPr/>
        <p:txBody>
          <a:bodyPr/>
          <a:lstStyle/>
          <a:p>
            <a:fld id="{E20130F8-F9A9-449D-A6C4-25958723ED86}" type="slidenum">
              <a:rPr lang="en-IN" smtClean="0"/>
              <a:t>‹#›</a:t>
            </a:fld>
            <a:endParaRPr lang="en-IN"/>
          </a:p>
        </p:txBody>
      </p:sp>
    </p:spTree>
    <p:extLst>
      <p:ext uri="{BB962C8B-B14F-4D97-AF65-F5344CB8AC3E}">
        <p14:creationId xmlns:p14="http://schemas.microsoft.com/office/powerpoint/2010/main" val="3554756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98C6A-E941-9B08-BA5A-1AABF4F3E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54FE44-ACE3-CE0D-C5BD-E066A9C2B1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2828F8-C96C-AD24-A359-96B92065E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0E0A00-04DC-46BB-9AE8-F5D2109E645A}" type="datetime1">
              <a:rPr lang="en-IN" smtClean="0"/>
              <a:t>27-08-2026</a:t>
            </a:fld>
            <a:endParaRPr lang="en-IN"/>
          </a:p>
        </p:txBody>
      </p:sp>
      <p:sp>
        <p:nvSpPr>
          <p:cNvPr id="5" name="Footer Placeholder 4">
            <a:extLst>
              <a:ext uri="{FF2B5EF4-FFF2-40B4-BE49-F238E27FC236}">
                <a16:creationId xmlns:a16="http://schemas.microsoft.com/office/drawing/2014/main" id="{4F7AA715-ACA8-5AE5-2DD2-B815882D9C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E87956B-65F6-6CD9-E204-AF7744786B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0130F8-F9A9-449D-A6C4-25958723ED86}" type="slidenum">
              <a:rPr lang="en-IN" smtClean="0"/>
              <a:t>‹#›</a:t>
            </a:fld>
            <a:endParaRPr lang="en-IN"/>
          </a:p>
        </p:txBody>
      </p:sp>
    </p:spTree>
    <p:extLst>
      <p:ext uri="{BB962C8B-B14F-4D97-AF65-F5344CB8AC3E}">
        <p14:creationId xmlns:p14="http://schemas.microsoft.com/office/powerpoint/2010/main" val="3768724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76F5B-F84E-0BC0-3005-992F8170AEDB}"/>
              </a:ext>
            </a:extLst>
          </p:cNvPr>
          <p:cNvSpPr>
            <a:spLocks noGrp="1"/>
          </p:cNvSpPr>
          <p:nvPr>
            <p:ph type="ctrTitle"/>
          </p:nvPr>
        </p:nvSpPr>
        <p:spPr>
          <a:xfrm>
            <a:off x="1162217" y="758652"/>
            <a:ext cx="9940412" cy="2318844"/>
          </a:xfrm>
        </p:spPr>
        <p:txBody>
          <a:bodyPr>
            <a:noAutofit/>
          </a:bodyPr>
          <a:lstStyle/>
          <a:p>
            <a:r>
              <a:rPr lang="en-US" sz="4000" b="1" dirty="0">
                <a:latin typeface="Algerian" panose="04020705040A02060702" pitchFamily="82" charset="0"/>
                <a:cs typeface="Times New Roman" panose="02020603050405020304" pitchFamily="18" charset="0"/>
              </a:rPr>
              <a:t>AI BASED CROP DISEASE DETECTION</a:t>
            </a:r>
            <a:br>
              <a:rPr lang="en-US" sz="4000" b="1" dirty="0">
                <a:latin typeface="Algerian" panose="04020705040A02060702" pitchFamily="82" charset="0"/>
                <a:cs typeface="Times New Roman" panose="02020603050405020304" pitchFamily="18" charset="0"/>
              </a:rPr>
            </a:br>
            <a:br>
              <a:rPr lang="en-US" sz="4000" b="1" dirty="0">
                <a:latin typeface="Algerian" panose="04020705040A02060702" pitchFamily="82" charset="0"/>
                <a:cs typeface="Times New Roman" panose="02020603050405020304" pitchFamily="18" charset="0"/>
              </a:rPr>
            </a:br>
            <a:r>
              <a:rPr lang="en-US" sz="3200" b="1" dirty="0">
                <a:latin typeface="Algerian" panose="04020705040A02060702" pitchFamily="82" charset="0"/>
                <a:cs typeface="Times New Roman" panose="02020603050405020304" pitchFamily="18" charset="0"/>
              </a:rPr>
              <a:t>CSA1711-Artificial Intelligence</a:t>
            </a:r>
            <a:endParaRPr lang="en-IN" sz="3200" b="1" dirty="0">
              <a:latin typeface="Algerian" panose="04020705040A02060702" pitchFamily="82" charset="0"/>
              <a:cs typeface="Times New Roman" panose="02020603050405020304" pitchFamily="18" charset="0"/>
            </a:endParaRPr>
          </a:p>
        </p:txBody>
      </p:sp>
      <p:sp>
        <p:nvSpPr>
          <p:cNvPr id="3" name="Subtitle 2">
            <a:extLst>
              <a:ext uri="{FF2B5EF4-FFF2-40B4-BE49-F238E27FC236}">
                <a16:creationId xmlns:a16="http://schemas.microsoft.com/office/drawing/2014/main" id="{67AD21FC-E479-F9D1-1F19-9CDD64B233F7}"/>
              </a:ext>
            </a:extLst>
          </p:cNvPr>
          <p:cNvSpPr>
            <a:spLocks noGrp="1"/>
          </p:cNvSpPr>
          <p:nvPr>
            <p:ph type="subTitle" idx="1"/>
          </p:nvPr>
        </p:nvSpPr>
        <p:spPr>
          <a:xfrm>
            <a:off x="894303" y="4501661"/>
            <a:ext cx="4200211" cy="1597687"/>
          </a:xfrm>
        </p:spPr>
        <p:txBody>
          <a:bodyPr>
            <a:normAutofit/>
          </a:bodyPr>
          <a:lstStyle/>
          <a:p>
            <a:pPr algn="l"/>
            <a:r>
              <a:rPr lang="en-US" dirty="0">
                <a:latin typeface="Times New Roman" panose="02020603050405020304" pitchFamily="18" charset="0"/>
                <a:cs typeface="Times New Roman" panose="02020603050405020304" pitchFamily="18" charset="0"/>
              </a:rPr>
              <a:t>Under the supervision of:</a:t>
            </a:r>
          </a:p>
          <a:p>
            <a:pPr algn="l"/>
            <a:r>
              <a:rPr lang="en-US" dirty="0" err="1">
                <a:latin typeface="Times New Roman" panose="02020603050405020304" pitchFamily="18" charset="0"/>
                <a:cs typeface="Times New Roman" panose="02020603050405020304" pitchFamily="18" charset="0"/>
              </a:rPr>
              <a:t>Dr.Krishnakumar</a:t>
            </a:r>
            <a:r>
              <a:rPr lang="en-US" dirty="0">
                <a:latin typeface="Times New Roman" panose="02020603050405020304" pitchFamily="18" charset="0"/>
                <a:cs typeface="Times New Roman" panose="02020603050405020304" pitchFamily="18" charset="0"/>
              </a:rPr>
              <a:t> K                                                                                                                                      </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06338B3-CD86-2C60-25CE-4EDBF2B33BCA}"/>
              </a:ext>
            </a:extLst>
          </p:cNvPr>
          <p:cNvSpPr txBox="1"/>
          <p:nvPr/>
        </p:nvSpPr>
        <p:spPr>
          <a:xfrm>
            <a:off x="8806017" y="4515674"/>
            <a:ext cx="2991140" cy="1569660"/>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Submitted By:</a:t>
            </a:r>
          </a:p>
          <a:p>
            <a:r>
              <a:rPr lang="en-US" sz="2400" dirty="0" err="1">
                <a:latin typeface="Times New Roman" panose="02020603050405020304" pitchFamily="18" charset="0"/>
                <a:cs typeface="Times New Roman" panose="02020603050405020304" pitchFamily="18" charset="0"/>
              </a:rPr>
              <a:t>G.Bhavya</a:t>
            </a:r>
            <a:r>
              <a:rPr lang="en-US" sz="2400" dirty="0">
                <a:latin typeface="Times New Roman" panose="02020603050405020304" pitchFamily="18" charset="0"/>
                <a:cs typeface="Times New Roman" panose="02020603050405020304" pitchFamily="18" charset="0"/>
              </a:rPr>
              <a:t>(192411114)</a:t>
            </a:r>
          </a:p>
          <a:p>
            <a:r>
              <a:rPr lang="en-US" sz="2400" dirty="0" err="1">
                <a:latin typeface="Times New Roman" panose="02020603050405020304" pitchFamily="18" charset="0"/>
                <a:cs typeface="Times New Roman" panose="02020603050405020304" pitchFamily="18" charset="0"/>
              </a:rPr>
              <a:t>S.Mythili</a:t>
            </a:r>
            <a:r>
              <a:rPr lang="en-US" sz="2400" dirty="0">
                <a:latin typeface="Times New Roman" panose="02020603050405020304" pitchFamily="18" charset="0"/>
                <a:cs typeface="Times New Roman" panose="02020603050405020304" pitchFamily="18" charset="0"/>
              </a:rPr>
              <a:t>(192411250)</a:t>
            </a:r>
          </a:p>
          <a:p>
            <a:r>
              <a:rPr lang="en-US" sz="2400" dirty="0" err="1">
                <a:latin typeface="Times New Roman" panose="02020603050405020304" pitchFamily="18" charset="0"/>
                <a:cs typeface="Times New Roman" panose="02020603050405020304" pitchFamily="18" charset="0"/>
              </a:rPr>
              <a:t>S.Roobini</a:t>
            </a:r>
            <a:r>
              <a:rPr lang="en-US" sz="2400" dirty="0">
                <a:latin typeface="Times New Roman" panose="02020603050405020304" pitchFamily="18" charset="0"/>
                <a:cs typeface="Times New Roman" panose="02020603050405020304" pitchFamily="18" charset="0"/>
              </a:rPr>
              <a:t>(192421114)</a:t>
            </a:r>
            <a:endParaRPr lang="en-IN" sz="2400"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538E295D-1BBE-7FA9-FF3A-F1B32C2F69C8}"/>
              </a:ext>
            </a:extLst>
          </p:cNvPr>
          <p:cNvPicPr>
            <a:picLocks noChangeAspect="1"/>
          </p:cNvPicPr>
          <p:nvPr/>
        </p:nvPicPr>
        <p:blipFill>
          <a:blip r:embed="rId2">
            <a:lum/>
            <a:alphaModFix/>
          </a:blip>
          <a:srcRect/>
          <a:stretch>
            <a:fillRect/>
          </a:stretch>
        </p:blipFill>
        <p:spPr>
          <a:xfrm>
            <a:off x="127800" y="109391"/>
            <a:ext cx="1041839" cy="957600"/>
          </a:xfrm>
          <a:prstGeom prst="rect">
            <a:avLst/>
          </a:prstGeom>
          <a:noFill/>
          <a:ln>
            <a:noFill/>
          </a:ln>
        </p:spPr>
      </p:pic>
      <p:pic>
        <p:nvPicPr>
          <p:cNvPr id="8" name="Picture 7">
            <a:extLst>
              <a:ext uri="{FF2B5EF4-FFF2-40B4-BE49-F238E27FC236}">
                <a16:creationId xmlns:a16="http://schemas.microsoft.com/office/drawing/2014/main" id="{CDEB5109-8D96-4C5E-8558-2B962C56CC2F}"/>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sp>
        <p:nvSpPr>
          <p:cNvPr id="5" name="Slide Number Placeholder 4">
            <a:extLst>
              <a:ext uri="{FF2B5EF4-FFF2-40B4-BE49-F238E27FC236}">
                <a16:creationId xmlns:a16="http://schemas.microsoft.com/office/drawing/2014/main" id="{1C917AFD-E3D7-7247-0209-C0D8A5E419FC}"/>
              </a:ext>
            </a:extLst>
          </p:cNvPr>
          <p:cNvSpPr>
            <a:spLocks noGrp="1"/>
          </p:cNvSpPr>
          <p:nvPr>
            <p:ph type="sldNum" sz="quarter" idx="12"/>
          </p:nvPr>
        </p:nvSpPr>
        <p:spPr/>
        <p:txBody>
          <a:bodyPr/>
          <a:lstStyle/>
          <a:p>
            <a:fld id="{E20130F8-F9A9-449D-A6C4-25958723ED86}" type="slidenum">
              <a:rPr lang="en-IN" smtClean="0"/>
              <a:t>1</a:t>
            </a:fld>
            <a:endParaRPr lang="en-IN"/>
          </a:p>
        </p:txBody>
      </p:sp>
    </p:spTree>
    <p:extLst>
      <p:ext uri="{BB962C8B-B14F-4D97-AF65-F5344CB8AC3E}">
        <p14:creationId xmlns:p14="http://schemas.microsoft.com/office/powerpoint/2010/main" val="2234566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FDA6A3-E7B7-EE99-1996-6CB9693657B7}"/>
              </a:ext>
            </a:extLst>
          </p:cNvPr>
          <p:cNvSpPr txBox="1"/>
          <p:nvPr/>
        </p:nvSpPr>
        <p:spPr>
          <a:xfrm>
            <a:off x="3329337" y="476509"/>
            <a:ext cx="598784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77142A9-A34C-951C-30C9-0E7E0DD908C1}"/>
              </a:ext>
            </a:extLst>
          </p:cNvPr>
          <p:cNvSpPr txBox="1"/>
          <p:nvPr/>
        </p:nvSpPr>
        <p:spPr>
          <a:xfrm>
            <a:off x="1307690" y="1641988"/>
            <a:ext cx="9576619" cy="420435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Agriculture plays a vital role in food production and the economy, but crop diseases significantly affect crop yield and quality.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Early detection of crop diseases is essential to prevent the spread of infections and minimize losses for farmers.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disease detection methods rely on manual inspection, which is time-consuming, expensive, and may not always be accurate.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Artificial Intelligence (AI) and Deep Learning can automatically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leaf images to identify crop diseases quickly and accurately.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AI-Based Crop Disease Detection System helps farmers make timely decisions, improve productivity, reduce pesticide misuse, and support sustainable farming practices.</a:t>
            </a:r>
          </a:p>
        </p:txBody>
      </p:sp>
      <p:pic>
        <p:nvPicPr>
          <p:cNvPr id="5" name="Picture 2">
            <a:extLst>
              <a:ext uri="{FF2B5EF4-FFF2-40B4-BE49-F238E27FC236}">
                <a16:creationId xmlns:a16="http://schemas.microsoft.com/office/drawing/2014/main" id="{24B8F1EB-1D85-8A0A-4895-A8B95D6804C0}"/>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B900B3CC-8318-CE24-0A4D-69239F97D819}"/>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sp>
        <p:nvSpPr>
          <p:cNvPr id="4" name="Slide Number Placeholder 3">
            <a:extLst>
              <a:ext uri="{FF2B5EF4-FFF2-40B4-BE49-F238E27FC236}">
                <a16:creationId xmlns:a16="http://schemas.microsoft.com/office/drawing/2014/main" id="{5B59B7F9-CD4A-3B8A-AF76-0B5FFC9C6B6F}"/>
              </a:ext>
            </a:extLst>
          </p:cNvPr>
          <p:cNvSpPr>
            <a:spLocks noGrp="1"/>
          </p:cNvSpPr>
          <p:nvPr>
            <p:ph type="sldNum" sz="quarter" idx="12"/>
          </p:nvPr>
        </p:nvSpPr>
        <p:spPr/>
        <p:txBody>
          <a:bodyPr/>
          <a:lstStyle/>
          <a:p>
            <a:fld id="{E20130F8-F9A9-449D-A6C4-25958723ED86}" type="slidenum">
              <a:rPr lang="en-IN" smtClean="0"/>
              <a:t>2</a:t>
            </a:fld>
            <a:endParaRPr lang="en-IN"/>
          </a:p>
        </p:txBody>
      </p:sp>
    </p:spTree>
    <p:extLst>
      <p:ext uri="{BB962C8B-B14F-4D97-AF65-F5344CB8AC3E}">
        <p14:creationId xmlns:p14="http://schemas.microsoft.com/office/powerpoint/2010/main" val="3889563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5D45-0553-1E64-FEA0-1218766D34D9}"/>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F61C6620-94F8-ECF2-5C86-5F6F69DBDA4B}"/>
              </a:ext>
            </a:extLst>
          </p:cNvPr>
          <p:cNvSpPr>
            <a:spLocks noGrp="1"/>
          </p:cNvSpPr>
          <p:nvPr>
            <p:ph idx="1"/>
          </p:nvPr>
        </p:nvSpPr>
        <p:spPr>
          <a:xfrm>
            <a:off x="793174" y="2043980"/>
            <a:ext cx="5302826" cy="4351338"/>
          </a:xfrm>
        </p:spPr>
        <p:txBody>
          <a:bodyPr>
            <a:normAutofit/>
          </a:bodyPr>
          <a:lstStyle/>
          <a:p>
            <a:pPr lvl="0"/>
            <a:r>
              <a:rPr lang="en-IN" sz="2400" dirty="0">
                <a:latin typeface="Times New Roman" panose="02020603050405020304" pitchFamily="18" charset="0"/>
                <a:cs typeface="Times New Roman" panose="02020603050405020304" pitchFamily="18" charset="0"/>
              </a:rPr>
              <a:t>Farmers may find it difficult to identify diseases accurately </a:t>
            </a:r>
          </a:p>
          <a:p>
            <a:pPr lvl="0"/>
            <a:r>
              <a:rPr lang="en-IN" sz="2400" dirty="0">
                <a:latin typeface="Times New Roman" panose="02020603050405020304" pitchFamily="18" charset="0"/>
                <a:cs typeface="Times New Roman" panose="02020603050405020304" pitchFamily="18" charset="0"/>
              </a:rPr>
              <a:t>Traditional detection is time-consuming </a:t>
            </a:r>
          </a:p>
          <a:p>
            <a:pPr lvl="0"/>
            <a:r>
              <a:rPr lang="en-IN" sz="2400" dirty="0">
                <a:latin typeface="Times New Roman" panose="02020603050405020304" pitchFamily="18" charset="0"/>
                <a:cs typeface="Times New Roman" panose="02020603050405020304" pitchFamily="18" charset="0"/>
              </a:rPr>
              <a:t>Lack of agricultural experts in rural areas</a:t>
            </a:r>
          </a:p>
          <a:p>
            <a:pPr lvl="0"/>
            <a:r>
              <a:rPr lang="en-IN" sz="2400" dirty="0">
                <a:latin typeface="Times New Roman" panose="02020603050405020304" pitchFamily="18" charset="0"/>
                <a:cs typeface="Times New Roman" panose="02020603050405020304" pitchFamily="18" charset="0"/>
              </a:rPr>
              <a:t>Diseases can spread rapidly before detection </a:t>
            </a:r>
          </a:p>
          <a:p>
            <a:pPr lvl="0"/>
            <a:r>
              <a:rPr lang="en-IN" sz="2400" dirty="0">
                <a:latin typeface="Times New Roman" panose="02020603050405020304" pitchFamily="18" charset="0"/>
                <a:cs typeface="Times New Roman" panose="02020603050405020304" pitchFamily="18" charset="0"/>
              </a:rPr>
              <a:t>Incorrect identification can lead to improper pesticide usage</a:t>
            </a:r>
          </a:p>
          <a:p>
            <a:endParaRPr lang="en-IN" sz="24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88480706-BDF6-52F6-BFED-763036944D8A}"/>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8A1EFFD9-3C70-3FE9-314A-635DCC95C639}"/>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pic>
        <p:nvPicPr>
          <p:cNvPr id="9" name="Picture 8">
            <a:extLst>
              <a:ext uri="{FF2B5EF4-FFF2-40B4-BE49-F238E27FC236}">
                <a16:creationId xmlns:a16="http://schemas.microsoft.com/office/drawing/2014/main" id="{F1FF4B39-45F3-292A-7605-E199383F2A47}"/>
              </a:ext>
            </a:extLst>
          </p:cNvPr>
          <p:cNvPicPr>
            <a:picLocks noChangeAspect="1"/>
          </p:cNvPicPr>
          <p:nvPr/>
        </p:nvPicPr>
        <p:blipFill>
          <a:blip r:embed="rId4"/>
          <a:stretch>
            <a:fillRect/>
          </a:stretch>
        </p:blipFill>
        <p:spPr>
          <a:xfrm>
            <a:off x="6583283" y="2296247"/>
            <a:ext cx="4770517" cy="3429000"/>
          </a:xfrm>
          <a:prstGeom prst="rect">
            <a:avLst/>
          </a:prstGeom>
        </p:spPr>
      </p:pic>
      <p:sp>
        <p:nvSpPr>
          <p:cNvPr id="4" name="Slide Number Placeholder 3">
            <a:extLst>
              <a:ext uri="{FF2B5EF4-FFF2-40B4-BE49-F238E27FC236}">
                <a16:creationId xmlns:a16="http://schemas.microsoft.com/office/drawing/2014/main" id="{C50BC949-0F2D-041A-A288-805B5D8028BD}"/>
              </a:ext>
            </a:extLst>
          </p:cNvPr>
          <p:cNvSpPr>
            <a:spLocks noGrp="1"/>
          </p:cNvSpPr>
          <p:nvPr>
            <p:ph type="sldNum" sz="quarter" idx="12"/>
          </p:nvPr>
        </p:nvSpPr>
        <p:spPr/>
        <p:txBody>
          <a:bodyPr/>
          <a:lstStyle/>
          <a:p>
            <a:fld id="{E20130F8-F9A9-449D-A6C4-25958723ED86}" type="slidenum">
              <a:rPr lang="en-IN" smtClean="0"/>
              <a:t>3</a:t>
            </a:fld>
            <a:endParaRPr lang="en-IN"/>
          </a:p>
        </p:txBody>
      </p:sp>
    </p:spTree>
    <p:extLst>
      <p:ext uri="{BB962C8B-B14F-4D97-AF65-F5344CB8AC3E}">
        <p14:creationId xmlns:p14="http://schemas.microsoft.com/office/powerpoint/2010/main" val="1775775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5F5BC-E045-D1EB-53B8-10256DB8F29E}"/>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                              OBJECTIVES:</a:t>
            </a:r>
          </a:p>
        </p:txBody>
      </p:sp>
      <p:sp>
        <p:nvSpPr>
          <p:cNvPr id="3" name="Content Placeholder 2">
            <a:extLst>
              <a:ext uri="{FF2B5EF4-FFF2-40B4-BE49-F238E27FC236}">
                <a16:creationId xmlns:a16="http://schemas.microsoft.com/office/drawing/2014/main" id="{E81C137D-D77E-0CD7-1185-CF27E935713F}"/>
              </a:ext>
            </a:extLst>
          </p:cNvPr>
          <p:cNvSpPr>
            <a:spLocks noGrp="1"/>
          </p:cNvSpPr>
          <p:nvPr>
            <p:ph idx="1"/>
          </p:nvPr>
        </p:nvSpPr>
        <p:spPr/>
        <p:txBody>
          <a:bodyPr>
            <a:normAutofit/>
          </a:bodyPr>
          <a:lstStyle/>
          <a:p>
            <a:pPr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Detect Crop Diseases – Use AI to identify diseases from crop leaf images. </a:t>
            </a:r>
          </a:p>
          <a:p>
            <a:pPr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Classify Diseases – Find out the specific type of disease affecting the crop. </a:t>
            </a:r>
          </a:p>
          <a:p>
            <a:pPr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Early Detection – Detect diseases at an early stage to prevent them from spreading. </a:t>
            </a:r>
          </a:p>
          <a:p>
            <a:pPr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Reduce Crop Loss – Help farmers take timely action and reduce damage to crops. </a:t>
            </a:r>
          </a:p>
          <a:p>
            <a:pPr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Provide Recommendations – Give basic information about the disease and suggest suitable preventive measures.</a:t>
            </a:r>
          </a:p>
          <a:p>
            <a:pPr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Improve Crop Production – Support farmers in maintaining healthy crops and improving agricultural productivity.</a:t>
            </a:r>
          </a:p>
        </p:txBody>
      </p:sp>
      <p:pic>
        <p:nvPicPr>
          <p:cNvPr id="5" name="Picture 2">
            <a:extLst>
              <a:ext uri="{FF2B5EF4-FFF2-40B4-BE49-F238E27FC236}">
                <a16:creationId xmlns:a16="http://schemas.microsoft.com/office/drawing/2014/main" id="{911F3F5E-6A4F-65AB-7568-A5974072F3B0}"/>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C119FBD9-30A4-0861-1EBE-628C9343C524}"/>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sp>
        <p:nvSpPr>
          <p:cNvPr id="4" name="Slide Number Placeholder 3">
            <a:extLst>
              <a:ext uri="{FF2B5EF4-FFF2-40B4-BE49-F238E27FC236}">
                <a16:creationId xmlns:a16="http://schemas.microsoft.com/office/drawing/2014/main" id="{9654E054-B0A9-5D4C-E002-C61C4D372437}"/>
              </a:ext>
            </a:extLst>
          </p:cNvPr>
          <p:cNvSpPr>
            <a:spLocks noGrp="1"/>
          </p:cNvSpPr>
          <p:nvPr>
            <p:ph type="sldNum" sz="quarter" idx="12"/>
          </p:nvPr>
        </p:nvSpPr>
        <p:spPr/>
        <p:txBody>
          <a:bodyPr/>
          <a:lstStyle/>
          <a:p>
            <a:fld id="{E20130F8-F9A9-449D-A6C4-25958723ED86}" type="slidenum">
              <a:rPr lang="en-IN" smtClean="0"/>
              <a:t>4</a:t>
            </a:fld>
            <a:endParaRPr lang="en-IN"/>
          </a:p>
        </p:txBody>
      </p:sp>
    </p:spTree>
    <p:extLst>
      <p:ext uri="{BB962C8B-B14F-4D97-AF65-F5344CB8AC3E}">
        <p14:creationId xmlns:p14="http://schemas.microsoft.com/office/powerpoint/2010/main" val="2600765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ED256-A7A8-5071-19C9-B08A8EF19781}"/>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3E0728C5-3007-0867-8F95-EB16929CFB78}"/>
              </a:ext>
            </a:extLst>
          </p:cNvPr>
          <p:cNvSpPr>
            <a:spLocks noGrp="1"/>
          </p:cNvSpPr>
          <p:nvPr>
            <p:ph idx="1"/>
          </p:nvPr>
        </p:nvSpPr>
        <p:spPr>
          <a:xfrm>
            <a:off x="501743" y="2636117"/>
            <a:ext cx="6418473" cy="2909599"/>
          </a:xfrm>
        </p:spPr>
        <p:txBody>
          <a:bodyPr>
            <a:noAutofit/>
          </a:bodyPr>
          <a:lstStyle/>
          <a:p>
            <a:pPr lvl="0" algn="just"/>
            <a:r>
              <a:rPr lang="en-IN" sz="2400" dirty="0">
                <a:latin typeface="Times New Roman" panose="02020603050405020304" pitchFamily="18" charset="0"/>
                <a:cs typeface="Times New Roman" panose="02020603050405020304" pitchFamily="18" charset="0"/>
              </a:rPr>
              <a:t>User captures/uploads an image of the crop leaf </a:t>
            </a:r>
          </a:p>
          <a:p>
            <a:pPr lvl="0" algn="just"/>
            <a:r>
              <a:rPr lang="en-IN" sz="2400" dirty="0">
                <a:latin typeface="Times New Roman" panose="02020603050405020304" pitchFamily="18" charset="0"/>
                <a:cs typeface="Times New Roman" panose="02020603050405020304" pitchFamily="18" charset="0"/>
              </a:rPr>
              <a:t>Image is </a:t>
            </a:r>
            <a:r>
              <a:rPr lang="en-IN" sz="2400" dirty="0" err="1">
                <a:latin typeface="Times New Roman" panose="02020603050405020304" pitchFamily="18" charset="0"/>
                <a:cs typeface="Times New Roman" panose="02020603050405020304" pitchFamily="18" charset="0"/>
              </a:rPr>
              <a:t>preprocessed</a:t>
            </a:r>
            <a:r>
              <a:rPr lang="en-IN" sz="2400" dirty="0">
                <a:latin typeface="Times New Roman" panose="02020603050405020304" pitchFamily="18" charset="0"/>
                <a:cs typeface="Times New Roman" panose="02020603050405020304" pitchFamily="18" charset="0"/>
              </a:rPr>
              <a:t> </a:t>
            </a:r>
          </a:p>
          <a:p>
            <a:pPr lvl="0" algn="just"/>
            <a:r>
              <a:rPr lang="en-IN" sz="2400" dirty="0">
                <a:latin typeface="Times New Roman" panose="02020603050405020304" pitchFamily="18" charset="0"/>
                <a:cs typeface="Times New Roman" panose="02020603050405020304" pitchFamily="18" charset="0"/>
              </a:rPr>
              <a:t>AI model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the image </a:t>
            </a:r>
          </a:p>
          <a:p>
            <a:pPr lvl="0" algn="just"/>
            <a:r>
              <a:rPr lang="en-IN" sz="2400" dirty="0">
                <a:latin typeface="Times New Roman" panose="02020603050405020304" pitchFamily="18" charset="0"/>
                <a:cs typeface="Times New Roman" panose="02020603050405020304" pitchFamily="18" charset="0"/>
              </a:rPr>
              <a:t>Disease is identified and classified </a:t>
            </a:r>
          </a:p>
          <a:p>
            <a:pPr lvl="0" algn="just"/>
            <a:r>
              <a:rPr lang="en-IN" sz="2400" dirty="0">
                <a:latin typeface="Times New Roman" panose="02020603050405020304" pitchFamily="18" charset="0"/>
                <a:cs typeface="Times New Roman" panose="02020603050405020304" pitchFamily="18" charset="0"/>
              </a:rPr>
              <a:t>System displays disease name and recommended action</a:t>
            </a:r>
          </a:p>
          <a:p>
            <a:pPr algn="just"/>
            <a:endParaRPr lang="en-IN" sz="24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4819D913-25C2-0661-CEA6-EFA0AD056F63}"/>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3BB25310-3F81-2EE8-4651-8D8B696A00C4}"/>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pic>
        <p:nvPicPr>
          <p:cNvPr id="9" name="Picture 8">
            <a:extLst>
              <a:ext uri="{FF2B5EF4-FFF2-40B4-BE49-F238E27FC236}">
                <a16:creationId xmlns:a16="http://schemas.microsoft.com/office/drawing/2014/main" id="{5361D3F5-5D0F-3FB6-FC88-22771EC61DEE}"/>
              </a:ext>
            </a:extLst>
          </p:cNvPr>
          <p:cNvPicPr>
            <a:picLocks noChangeAspect="1"/>
          </p:cNvPicPr>
          <p:nvPr/>
        </p:nvPicPr>
        <p:blipFill>
          <a:blip r:embed="rId4"/>
          <a:stretch>
            <a:fillRect/>
          </a:stretch>
        </p:blipFill>
        <p:spPr>
          <a:xfrm>
            <a:off x="7148945" y="2424617"/>
            <a:ext cx="4541312" cy="2909599"/>
          </a:xfrm>
          <a:prstGeom prst="rect">
            <a:avLst/>
          </a:prstGeom>
        </p:spPr>
      </p:pic>
      <p:sp>
        <p:nvSpPr>
          <p:cNvPr id="4" name="Slide Number Placeholder 3">
            <a:extLst>
              <a:ext uri="{FF2B5EF4-FFF2-40B4-BE49-F238E27FC236}">
                <a16:creationId xmlns:a16="http://schemas.microsoft.com/office/drawing/2014/main" id="{241004D4-BFD5-6023-8F07-FD195E028A0B}"/>
              </a:ext>
            </a:extLst>
          </p:cNvPr>
          <p:cNvSpPr>
            <a:spLocks noGrp="1"/>
          </p:cNvSpPr>
          <p:nvPr>
            <p:ph type="sldNum" sz="quarter" idx="12"/>
          </p:nvPr>
        </p:nvSpPr>
        <p:spPr/>
        <p:txBody>
          <a:bodyPr/>
          <a:lstStyle/>
          <a:p>
            <a:fld id="{E20130F8-F9A9-449D-A6C4-25958723ED86}" type="slidenum">
              <a:rPr lang="en-IN" smtClean="0"/>
              <a:t>5</a:t>
            </a:fld>
            <a:endParaRPr lang="en-IN"/>
          </a:p>
        </p:txBody>
      </p:sp>
    </p:spTree>
    <p:extLst>
      <p:ext uri="{BB962C8B-B14F-4D97-AF65-F5344CB8AC3E}">
        <p14:creationId xmlns:p14="http://schemas.microsoft.com/office/powerpoint/2010/main" val="369868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4D649-9C92-E15B-4B94-772407B222D2}"/>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22328D20-6E38-1CD7-1C26-23EBE6D9CA32}"/>
              </a:ext>
            </a:extLst>
          </p:cNvPr>
          <p:cNvPicPr>
            <a:picLocks noGrp="1" noChangeAspect="1"/>
          </p:cNvPicPr>
          <p:nvPr>
            <p:ph idx="1"/>
          </p:nvPr>
        </p:nvPicPr>
        <p:blipFill>
          <a:blip r:embed="rId2"/>
          <a:stretch>
            <a:fillRect/>
          </a:stretch>
        </p:blipFill>
        <p:spPr>
          <a:xfrm>
            <a:off x="1288473" y="1690688"/>
            <a:ext cx="9466118" cy="4667250"/>
          </a:xfrm>
          <a:prstGeom prst="rect">
            <a:avLst/>
          </a:prstGeom>
        </p:spPr>
      </p:pic>
      <p:pic>
        <p:nvPicPr>
          <p:cNvPr id="7" name="Picture 2">
            <a:extLst>
              <a:ext uri="{FF2B5EF4-FFF2-40B4-BE49-F238E27FC236}">
                <a16:creationId xmlns:a16="http://schemas.microsoft.com/office/drawing/2014/main" id="{8C8D7570-4F65-0FDA-F0BE-BE59E9015B4D}"/>
              </a:ext>
            </a:extLst>
          </p:cNvPr>
          <p:cNvPicPr>
            <a:picLocks noChangeAspect="1"/>
          </p:cNvPicPr>
          <p:nvPr/>
        </p:nvPicPr>
        <p:blipFill>
          <a:blip r:embed="rId3">
            <a:lum/>
            <a:alphaModFix/>
          </a:blip>
          <a:srcRect/>
          <a:stretch>
            <a:fillRect/>
          </a:stretch>
        </p:blipFill>
        <p:spPr>
          <a:xfrm>
            <a:off x="127800" y="99000"/>
            <a:ext cx="1041839" cy="957600"/>
          </a:xfrm>
          <a:prstGeom prst="rect">
            <a:avLst/>
          </a:prstGeom>
          <a:noFill/>
          <a:ln>
            <a:noFill/>
          </a:ln>
        </p:spPr>
      </p:pic>
      <p:pic>
        <p:nvPicPr>
          <p:cNvPr id="9" name="Picture 8">
            <a:extLst>
              <a:ext uri="{FF2B5EF4-FFF2-40B4-BE49-F238E27FC236}">
                <a16:creationId xmlns:a16="http://schemas.microsoft.com/office/drawing/2014/main" id="{91C1395E-B1AA-B2DA-F9D7-DEE0E5846831}"/>
              </a:ext>
            </a:extLst>
          </p:cNvPr>
          <p:cNvPicPr>
            <a:picLocks noChangeAspect="1"/>
          </p:cNvPicPr>
          <p:nvPr/>
        </p:nvPicPr>
        <p:blipFill>
          <a:blip r:embed="rId4">
            <a:lum/>
            <a:alphaModFix/>
          </a:blip>
          <a:srcRect/>
          <a:stretch>
            <a:fillRect/>
          </a:stretch>
        </p:blipFill>
        <p:spPr>
          <a:xfrm>
            <a:off x="11041920" y="99000"/>
            <a:ext cx="1021679" cy="1110240"/>
          </a:xfrm>
          <a:prstGeom prst="rect">
            <a:avLst/>
          </a:prstGeom>
          <a:noFill/>
          <a:ln>
            <a:noFill/>
          </a:ln>
        </p:spPr>
      </p:pic>
      <p:sp>
        <p:nvSpPr>
          <p:cNvPr id="3" name="Slide Number Placeholder 2">
            <a:extLst>
              <a:ext uri="{FF2B5EF4-FFF2-40B4-BE49-F238E27FC236}">
                <a16:creationId xmlns:a16="http://schemas.microsoft.com/office/drawing/2014/main" id="{B1F6EA7A-89A5-D578-2BC8-C1517DB05B26}"/>
              </a:ext>
            </a:extLst>
          </p:cNvPr>
          <p:cNvSpPr>
            <a:spLocks noGrp="1"/>
          </p:cNvSpPr>
          <p:nvPr>
            <p:ph type="sldNum" sz="quarter" idx="12"/>
          </p:nvPr>
        </p:nvSpPr>
        <p:spPr/>
        <p:txBody>
          <a:bodyPr/>
          <a:lstStyle/>
          <a:p>
            <a:fld id="{E20130F8-F9A9-449D-A6C4-25958723ED86}" type="slidenum">
              <a:rPr lang="en-IN" smtClean="0"/>
              <a:t>6</a:t>
            </a:fld>
            <a:endParaRPr lang="en-IN"/>
          </a:p>
        </p:txBody>
      </p:sp>
    </p:spTree>
    <p:extLst>
      <p:ext uri="{BB962C8B-B14F-4D97-AF65-F5344CB8AC3E}">
        <p14:creationId xmlns:p14="http://schemas.microsoft.com/office/powerpoint/2010/main" val="3178601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95EF6B-450B-BA4C-1415-39FF5CBC527F}"/>
              </a:ext>
            </a:extLst>
          </p:cNvPr>
          <p:cNvSpPr txBox="1"/>
          <p:nvPr/>
        </p:nvSpPr>
        <p:spPr>
          <a:xfrm>
            <a:off x="4630994" y="629266"/>
            <a:ext cx="3069244"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MODULE - 1</a:t>
            </a:r>
            <a:endParaRPr lang="en-IN" sz="36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17DAE42-5216-0B52-D4D3-124B8A69890F}"/>
              </a:ext>
            </a:extLst>
          </p:cNvPr>
          <p:cNvSpPr txBox="1"/>
          <p:nvPr/>
        </p:nvSpPr>
        <p:spPr>
          <a:xfrm>
            <a:off x="555201" y="1209240"/>
            <a:ext cx="6604136" cy="5500032"/>
          </a:xfrm>
          <a:prstGeom prst="rect">
            <a:avLst/>
          </a:prstGeom>
          <a:noFill/>
        </p:spPr>
        <p:txBody>
          <a:bodyPr wrap="square" rtlCol="0">
            <a:spAutoFit/>
          </a:bodyPr>
          <a:lstStyle/>
          <a:p>
            <a:pPr algn="just"/>
            <a:endParaRPr lang="en-IN" dirty="0"/>
          </a:p>
          <a:p>
            <a:pPr algn="just"/>
            <a:r>
              <a:rPr lang="en-IN" sz="2000" b="1" dirty="0"/>
              <a:t>                                               </a:t>
            </a:r>
          </a:p>
          <a:p>
            <a:pPr algn="just"/>
            <a:r>
              <a:rPr lang="en-IN" sz="2000" b="1" dirty="0"/>
              <a:t>   </a:t>
            </a:r>
            <a:r>
              <a:rPr lang="en-IN" sz="2400" b="1" dirty="0">
                <a:latin typeface="Times New Roman" panose="02020603050405020304" pitchFamily="18" charset="0"/>
                <a:cs typeface="Times New Roman" panose="02020603050405020304" pitchFamily="18" charset="0"/>
              </a:rPr>
              <a:t>IMAGE DATASET PREPARATION</a:t>
            </a:r>
            <a:r>
              <a:rPr lang="en-IN" sz="2000" dirty="0">
                <a:latin typeface="Times New Roman" panose="02020603050405020304" pitchFamily="18" charset="0"/>
                <a:cs typeface="Times New Roman" panose="02020603050405020304" pitchFamily="18" charset="0"/>
              </a:rPr>
              <a:t> </a:t>
            </a:r>
          </a:p>
          <a:p>
            <a:pPr algn="just"/>
            <a:endParaRPr lang="en-IN" sz="20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Collect Images – Gather healthy and diseased crop leaf images.</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Clean the Dataset – Remove unclear, duplicate, or damaged images.</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Resize Images – Convert all images to the same size (e.g., 224 × 224 pixels).</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Label and Organize – Group images into folders based on disease type.</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Split the Dataset – Divide the dataset into Training, Validation, and Testing sets for model development.</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F7CE1014-D88F-BFE6-0143-311F3F0E13C0}"/>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0477EE3B-5F91-5049-09E6-CC4648B3AC34}"/>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pic>
        <p:nvPicPr>
          <p:cNvPr id="9" name="Picture 8">
            <a:extLst>
              <a:ext uri="{FF2B5EF4-FFF2-40B4-BE49-F238E27FC236}">
                <a16:creationId xmlns:a16="http://schemas.microsoft.com/office/drawing/2014/main" id="{7495B69E-A7B7-BB4C-A7B5-39E44CD8C4CB}"/>
              </a:ext>
            </a:extLst>
          </p:cNvPr>
          <p:cNvPicPr>
            <a:picLocks noChangeAspect="1"/>
          </p:cNvPicPr>
          <p:nvPr/>
        </p:nvPicPr>
        <p:blipFill>
          <a:blip r:embed="rId4"/>
          <a:stretch>
            <a:fillRect/>
          </a:stretch>
        </p:blipFill>
        <p:spPr>
          <a:xfrm>
            <a:off x="7473524" y="2276422"/>
            <a:ext cx="4382504" cy="3064506"/>
          </a:xfrm>
          <a:prstGeom prst="rect">
            <a:avLst/>
          </a:prstGeom>
        </p:spPr>
      </p:pic>
      <p:sp>
        <p:nvSpPr>
          <p:cNvPr id="3" name="Slide Number Placeholder 2">
            <a:extLst>
              <a:ext uri="{FF2B5EF4-FFF2-40B4-BE49-F238E27FC236}">
                <a16:creationId xmlns:a16="http://schemas.microsoft.com/office/drawing/2014/main" id="{90D94C31-5E42-3EF3-BA29-B987276BEECC}"/>
              </a:ext>
            </a:extLst>
          </p:cNvPr>
          <p:cNvSpPr>
            <a:spLocks noGrp="1"/>
          </p:cNvSpPr>
          <p:nvPr>
            <p:ph type="sldNum" sz="quarter" idx="12"/>
          </p:nvPr>
        </p:nvSpPr>
        <p:spPr/>
        <p:txBody>
          <a:bodyPr/>
          <a:lstStyle/>
          <a:p>
            <a:fld id="{E20130F8-F9A9-449D-A6C4-25958723ED86}" type="slidenum">
              <a:rPr lang="en-IN" smtClean="0"/>
              <a:t>7</a:t>
            </a:fld>
            <a:endParaRPr lang="en-IN"/>
          </a:p>
        </p:txBody>
      </p:sp>
    </p:spTree>
    <p:extLst>
      <p:ext uri="{BB962C8B-B14F-4D97-AF65-F5344CB8AC3E}">
        <p14:creationId xmlns:p14="http://schemas.microsoft.com/office/powerpoint/2010/main" val="13855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C67D40-3356-17F4-065E-04A3326CDB37}"/>
              </a:ext>
            </a:extLst>
          </p:cNvPr>
          <p:cNvSpPr txBox="1"/>
          <p:nvPr/>
        </p:nvSpPr>
        <p:spPr>
          <a:xfrm>
            <a:off x="648718" y="1325345"/>
            <a:ext cx="5658563" cy="6558847"/>
          </a:xfrm>
          <a:prstGeom prst="rect">
            <a:avLst/>
          </a:prstGeom>
          <a:noFill/>
        </p:spPr>
        <p:txBody>
          <a:bodyPr wrap="square" rtlCol="0">
            <a:spAutoFit/>
          </a:bodyPr>
          <a:lstStyle/>
          <a:p>
            <a:pPr algn="just">
              <a:lnSpc>
                <a:spcPct val="150000"/>
              </a:lnSpc>
            </a:pPr>
            <a:r>
              <a:rPr lang="en-IN"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CNN Model Training</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Load the Dataset – Import the training and validation images.</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Build the CNN Model – Create the CNN architecture with different layers.</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Train the Model – Feed the training images to the CNN to learn patterns.</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Validate the Model – Check the model's performance using validation data.</a:t>
            </a:r>
          </a:p>
          <a:p>
            <a:pPr marL="285750" indent="-285750" algn="just">
              <a:lnSpc>
                <a:spcPct val="150000"/>
              </a:lnSpc>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Save the Model – Store the trained model for future disease prediction.</a:t>
            </a:r>
          </a:p>
          <a:p>
            <a:pPr algn="just">
              <a:lnSpc>
                <a:spcPct val="150000"/>
              </a:lnSpc>
            </a:pPr>
            <a:br>
              <a:rPr lang="en-IN" sz="2800"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a:p>
            <a:pPr algn="just">
              <a:lnSpc>
                <a:spcPct val="150000"/>
              </a:lnSpc>
            </a:pPr>
            <a:endParaRPr lang="en-IN" dirty="0"/>
          </a:p>
        </p:txBody>
      </p:sp>
      <p:sp>
        <p:nvSpPr>
          <p:cNvPr id="3" name="TextBox 2">
            <a:extLst>
              <a:ext uri="{FF2B5EF4-FFF2-40B4-BE49-F238E27FC236}">
                <a16:creationId xmlns:a16="http://schemas.microsoft.com/office/drawing/2014/main" id="{DA098926-5381-BD2D-F38C-47CD916714BC}"/>
              </a:ext>
            </a:extLst>
          </p:cNvPr>
          <p:cNvSpPr txBox="1"/>
          <p:nvPr/>
        </p:nvSpPr>
        <p:spPr>
          <a:xfrm>
            <a:off x="4965290" y="412956"/>
            <a:ext cx="2653203"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MODULE-2</a:t>
            </a:r>
            <a:endParaRPr lang="en-IN" sz="3600" b="1"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ECA7E3EB-85C3-7896-AC53-812D502F6E19}"/>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A9BBD8E2-E634-EDAE-9C06-AF40CE0B6B48}"/>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pic>
        <p:nvPicPr>
          <p:cNvPr id="9" name="Picture 8">
            <a:extLst>
              <a:ext uri="{FF2B5EF4-FFF2-40B4-BE49-F238E27FC236}">
                <a16:creationId xmlns:a16="http://schemas.microsoft.com/office/drawing/2014/main" id="{6F88E3B5-6021-E234-30E5-EA73D00BFAA1}"/>
              </a:ext>
            </a:extLst>
          </p:cNvPr>
          <p:cNvPicPr>
            <a:picLocks noChangeAspect="1"/>
          </p:cNvPicPr>
          <p:nvPr/>
        </p:nvPicPr>
        <p:blipFill>
          <a:blip r:embed="rId4"/>
          <a:stretch>
            <a:fillRect/>
          </a:stretch>
        </p:blipFill>
        <p:spPr>
          <a:xfrm>
            <a:off x="6754091" y="2431472"/>
            <a:ext cx="5185062" cy="3138054"/>
          </a:xfrm>
          <a:prstGeom prst="rect">
            <a:avLst/>
          </a:prstGeom>
        </p:spPr>
      </p:pic>
      <p:sp>
        <p:nvSpPr>
          <p:cNvPr id="4" name="Slide Number Placeholder 3">
            <a:extLst>
              <a:ext uri="{FF2B5EF4-FFF2-40B4-BE49-F238E27FC236}">
                <a16:creationId xmlns:a16="http://schemas.microsoft.com/office/drawing/2014/main" id="{55D8ED6C-0AC1-501E-1EFB-2722D8729638}"/>
              </a:ext>
            </a:extLst>
          </p:cNvPr>
          <p:cNvSpPr>
            <a:spLocks noGrp="1"/>
          </p:cNvSpPr>
          <p:nvPr>
            <p:ph type="sldNum" sz="quarter" idx="12"/>
          </p:nvPr>
        </p:nvSpPr>
        <p:spPr/>
        <p:txBody>
          <a:bodyPr/>
          <a:lstStyle/>
          <a:p>
            <a:fld id="{E20130F8-F9A9-449D-A6C4-25958723ED86}" type="slidenum">
              <a:rPr lang="en-IN" smtClean="0"/>
              <a:t>8</a:t>
            </a:fld>
            <a:endParaRPr lang="en-IN"/>
          </a:p>
        </p:txBody>
      </p:sp>
    </p:spTree>
    <p:extLst>
      <p:ext uri="{BB962C8B-B14F-4D97-AF65-F5344CB8AC3E}">
        <p14:creationId xmlns:p14="http://schemas.microsoft.com/office/powerpoint/2010/main" val="111225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9A716-B63F-B102-79F4-DCD6672E35C8}"/>
              </a:ext>
            </a:extLst>
          </p:cNvPr>
          <p:cNvSpPr>
            <a:spLocks noGrp="1"/>
          </p:cNvSpPr>
          <p:nvPr>
            <p:ph type="ctrTitle"/>
          </p:nvPr>
        </p:nvSpPr>
        <p:spPr>
          <a:xfrm>
            <a:off x="1140542" y="442452"/>
            <a:ext cx="9527458" cy="953729"/>
          </a:xfrm>
        </p:spPr>
        <p:txBody>
          <a:bodyPr>
            <a:normAutofit/>
          </a:bodyPr>
          <a:lstStyle/>
          <a:p>
            <a:r>
              <a:rPr lang="en-US" sz="3600" b="1" dirty="0">
                <a:latin typeface="Times New Roman" panose="02020603050405020304" pitchFamily="18" charset="0"/>
                <a:cs typeface="Times New Roman" panose="02020603050405020304" pitchFamily="18" charset="0"/>
              </a:rPr>
              <a:t>MODULE-3</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AEBE401-D326-946B-569E-C9497B62D8DB}"/>
              </a:ext>
            </a:extLst>
          </p:cNvPr>
          <p:cNvSpPr>
            <a:spLocks noGrp="1"/>
          </p:cNvSpPr>
          <p:nvPr>
            <p:ph type="subTitle" idx="1"/>
          </p:nvPr>
        </p:nvSpPr>
        <p:spPr>
          <a:xfrm>
            <a:off x="978869" y="1957177"/>
            <a:ext cx="5328414" cy="4458371"/>
          </a:xfrm>
        </p:spPr>
        <p:txBody>
          <a:bodyPr>
            <a:normAutofit/>
          </a:bodyPr>
          <a:lstStyle/>
          <a:p>
            <a:pPr algn="just">
              <a:lnSpc>
                <a:spcPct val="150000"/>
              </a:lnSpc>
            </a:pPr>
            <a:r>
              <a:rPr lang="en-IN"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Disease Prediction App</a:t>
            </a:r>
          </a:p>
          <a:p>
            <a:pPr marL="342900" indent="-342900" algn="jus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Upload Image – The user uploads a crop leaf image.</a:t>
            </a:r>
          </a:p>
          <a:p>
            <a:pPr marL="342900" indent="-342900" algn="jus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Process the Image – The app prepares the image for prediction.</a:t>
            </a:r>
          </a:p>
          <a:p>
            <a:pPr marL="342900" indent="-342900" algn="jus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Predict Disease – The trained CNN model identifies the disease.</a:t>
            </a:r>
          </a:p>
          <a:p>
            <a:pPr marL="342900" indent="-342900" algn="jus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Display Result – The app shows the predicted disease name.</a:t>
            </a:r>
          </a:p>
          <a:p>
            <a:pPr marL="342900" indent="-342900" algn="just">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Provide Recommendation – The app suggests suitable treatment or preventive measures.</a:t>
            </a:r>
          </a:p>
          <a:p>
            <a:pPr algn="just"/>
            <a:endParaRPr lang="en-IN" dirty="0"/>
          </a:p>
        </p:txBody>
      </p:sp>
      <p:pic>
        <p:nvPicPr>
          <p:cNvPr id="5" name="Picture 2">
            <a:extLst>
              <a:ext uri="{FF2B5EF4-FFF2-40B4-BE49-F238E27FC236}">
                <a16:creationId xmlns:a16="http://schemas.microsoft.com/office/drawing/2014/main" id="{A3CEEFB4-9B5D-0AD1-4E53-7B09E8EFB207}"/>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E0FA237D-47FE-EA48-147F-2739D3552F3F}"/>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pic>
        <p:nvPicPr>
          <p:cNvPr id="9" name="Picture 8">
            <a:extLst>
              <a:ext uri="{FF2B5EF4-FFF2-40B4-BE49-F238E27FC236}">
                <a16:creationId xmlns:a16="http://schemas.microsoft.com/office/drawing/2014/main" id="{F3908CEB-6769-A137-3B46-3E24A80FD1DC}"/>
              </a:ext>
            </a:extLst>
          </p:cNvPr>
          <p:cNvPicPr>
            <a:picLocks noChangeAspect="1"/>
          </p:cNvPicPr>
          <p:nvPr/>
        </p:nvPicPr>
        <p:blipFill>
          <a:blip r:embed="rId4"/>
          <a:stretch>
            <a:fillRect/>
          </a:stretch>
        </p:blipFill>
        <p:spPr>
          <a:xfrm>
            <a:off x="6751099" y="2335656"/>
            <a:ext cx="5090601" cy="3389735"/>
          </a:xfrm>
          <a:prstGeom prst="rect">
            <a:avLst/>
          </a:prstGeom>
        </p:spPr>
      </p:pic>
      <p:sp>
        <p:nvSpPr>
          <p:cNvPr id="4" name="Slide Number Placeholder 3">
            <a:extLst>
              <a:ext uri="{FF2B5EF4-FFF2-40B4-BE49-F238E27FC236}">
                <a16:creationId xmlns:a16="http://schemas.microsoft.com/office/drawing/2014/main" id="{47262471-F05D-51C2-B326-9304723F8FA9}"/>
              </a:ext>
            </a:extLst>
          </p:cNvPr>
          <p:cNvSpPr>
            <a:spLocks noGrp="1"/>
          </p:cNvSpPr>
          <p:nvPr>
            <p:ph type="sldNum" sz="quarter" idx="12"/>
          </p:nvPr>
        </p:nvSpPr>
        <p:spPr/>
        <p:txBody>
          <a:bodyPr/>
          <a:lstStyle/>
          <a:p>
            <a:fld id="{E20130F8-F9A9-449D-A6C4-25958723ED86}" type="slidenum">
              <a:rPr lang="en-IN" smtClean="0"/>
              <a:t>9</a:t>
            </a:fld>
            <a:endParaRPr lang="en-IN"/>
          </a:p>
        </p:txBody>
      </p:sp>
    </p:spTree>
    <p:extLst>
      <p:ext uri="{BB962C8B-B14F-4D97-AF65-F5344CB8AC3E}">
        <p14:creationId xmlns:p14="http://schemas.microsoft.com/office/powerpoint/2010/main" val="1176003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CEFE9-D3E0-F15D-8889-5B5602BA5A1D}"/>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Implementation output</a:t>
            </a:r>
          </a:p>
        </p:txBody>
      </p:sp>
      <p:pic>
        <p:nvPicPr>
          <p:cNvPr id="11" name="Content Placeholder 10">
            <a:extLst>
              <a:ext uri="{FF2B5EF4-FFF2-40B4-BE49-F238E27FC236}">
                <a16:creationId xmlns:a16="http://schemas.microsoft.com/office/drawing/2014/main" id="{AFC1C720-E519-F3F0-DF4E-BE2AAD5B9796}"/>
              </a:ext>
            </a:extLst>
          </p:cNvPr>
          <p:cNvPicPr>
            <a:picLocks noGrp="1" noChangeAspect="1"/>
          </p:cNvPicPr>
          <p:nvPr>
            <p:ph idx="1"/>
          </p:nvPr>
        </p:nvPicPr>
        <p:blipFill>
          <a:blip r:embed="rId2"/>
          <a:stretch>
            <a:fillRect/>
          </a:stretch>
        </p:blipFill>
        <p:spPr>
          <a:xfrm>
            <a:off x="501691" y="2272434"/>
            <a:ext cx="5400345" cy="3224357"/>
          </a:xfrm>
          <a:prstGeom prst="rect">
            <a:avLst/>
          </a:prstGeom>
        </p:spPr>
      </p:pic>
      <p:pic>
        <p:nvPicPr>
          <p:cNvPr id="5" name="Picture 2">
            <a:extLst>
              <a:ext uri="{FF2B5EF4-FFF2-40B4-BE49-F238E27FC236}">
                <a16:creationId xmlns:a16="http://schemas.microsoft.com/office/drawing/2014/main" id="{50D7D8EA-9B05-D309-4DD8-3E5A6502CB34}"/>
              </a:ext>
            </a:extLst>
          </p:cNvPr>
          <p:cNvPicPr>
            <a:picLocks noChangeAspect="1"/>
          </p:cNvPicPr>
          <p:nvPr/>
        </p:nvPicPr>
        <p:blipFill>
          <a:blip r:embed="rId3">
            <a:lum/>
            <a:alphaModFix/>
          </a:blip>
          <a:srcRect/>
          <a:stretch>
            <a:fillRect/>
          </a:stretch>
        </p:blipFill>
        <p:spPr>
          <a:xfrm>
            <a:off x="127800" y="99000"/>
            <a:ext cx="1041839" cy="957600"/>
          </a:xfrm>
          <a:prstGeom prst="rect">
            <a:avLst/>
          </a:prstGeom>
          <a:noFill/>
          <a:ln>
            <a:noFill/>
          </a:ln>
        </p:spPr>
      </p:pic>
      <p:pic>
        <p:nvPicPr>
          <p:cNvPr id="9" name="Picture 8">
            <a:extLst>
              <a:ext uri="{FF2B5EF4-FFF2-40B4-BE49-F238E27FC236}">
                <a16:creationId xmlns:a16="http://schemas.microsoft.com/office/drawing/2014/main" id="{A3B6BFC5-3EF9-ADD3-9B5A-C3CDCF214CC4}"/>
              </a:ext>
            </a:extLst>
          </p:cNvPr>
          <p:cNvPicPr>
            <a:picLocks noChangeAspect="1"/>
          </p:cNvPicPr>
          <p:nvPr/>
        </p:nvPicPr>
        <p:blipFill>
          <a:blip r:embed="rId4">
            <a:lum/>
            <a:alphaModFix/>
          </a:blip>
          <a:srcRect/>
          <a:stretch>
            <a:fillRect/>
          </a:stretch>
        </p:blipFill>
        <p:spPr>
          <a:xfrm>
            <a:off x="11041920" y="99000"/>
            <a:ext cx="1021679" cy="1110240"/>
          </a:xfrm>
          <a:prstGeom prst="rect">
            <a:avLst/>
          </a:prstGeom>
          <a:noFill/>
          <a:ln>
            <a:noFill/>
          </a:ln>
        </p:spPr>
      </p:pic>
      <p:pic>
        <p:nvPicPr>
          <p:cNvPr id="13" name="Picture 12">
            <a:extLst>
              <a:ext uri="{FF2B5EF4-FFF2-40B4-BE49-F238E27FC236}">
                <a16:creationId xmlns:a16="http://schemas.microsoft.com/office/drawing/2014/main" id="{0AA4D34A-B744-036F-49B2-1B4945F5D215}"/>
              </a:ext>
            </a:extLst>
          </p:cNvPr>
          <p:cNvPicPr>
            <a:picLocks noChangeAspect="1"/>
          </p:cNvPicPr>
          <p:nvPr/>
        </p:nvPicPr>
        <p:blipFill>
          <a:blip r:embed="rId5"/>
          <a:stretch>
            <a:fillRect/>
          </a:stretch>
        </p:blipFill>
        <p:spPr>
          <a:xfrm>
            <a:off x="6336522" y="2272433"/>
            <a:ext cx="5216237" cy="3224357"/>
          </a:xfrm>
          <a:prstGeom prst="rect">
            <a:avLst/>
          </a:prstGeom>
        </p:spPr>
      </p:pic>
      <p:sp>
        <p:nvSpPr>
          <p:cNvPr id="14" name="Slide Number Placeholder 13">
            <a:extLst>
              <a:ext uri="{FF2B5EF4-FFF2-40B4-BE49-F238E27FC236}">
                <a16:creationId xmlns:a16="http://schemas.microsoft.com/office/drawing/2014/main" id="{46BD8F15-DCB8-B30F-683C-A8DC37BC6EA9}"/>
              </a:ext>
            </a:extLst>
          </p:cNvPr>
          <p:cNvSpPr>
            <a:spLocks noGrp="1"/>
          </p:cNvSpPr>
          <p:nvPr>
            <p:ph type="sldNum" sz="quarter" idx="12"/>
          </p:nvPr>
        </p:nvSpPr>
        <p:spPr/>
        <p:txBody>
          <a:bodyPr/>
          <a:lstStyle/>
          <a:p>
            <a:fld id="{E20130F8-F9A9-449D-A6C4-25958723ED86}" type="slidenum">
              <a:rPr lang="en-IN" smtClean="0"/>
              <a:t>10</a:t>
            </a:fld>
            <a:endParaRPr lang="en-IN"/>
          </a:p>
        </p:txBody>
      </p:sp>
    </p:spTree>
    <p:extLst>
      <p:ext uri="{BB962C8B-B14F-4D97-AF65-F5344CB8AC3E}">
        <p14:creationId xmlns:p14="http://schemas.microsoft.com/office/powerpoint/2010/main" val="3769708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9395-6202-3E9E-90D7-3CC142ACD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88450-BDA8-CE12-8429-DBA8D7C8C556}"/>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Implementation output</a:t>
            </a:r>
          </a:p>
        </p:txBody>
      </p:sp>
      <p:pic>
        <p:nvPicPr>
          <p:cNvPr id="5" name="Picture 2">
            <a:extLst>
              <a:ext uri="{FF2B5EF4-FFF2-40B4-BE49-F238E27FC236}">
                <a16:creationId xmlns:a16="http://schemas.microsoft.com/office/drawing/2014/main" id="{87A92D2B-2F31-553B-582D-ADA4DFE0F6FF}"/>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9" name="Picture 8">
            <a:extLst>
              <a:ext uri="{FF2B5EF4-FFF2-40B4-BE49-F238E27FC236}">
                <a16:creationId xmlns:a16="http://schemas.microsoft.com/office/drawing/2014/main" id="{99AB8089-E73A-EC97-9087-2C5505CADA71}"/>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pic>
        <p:nvPicPr>
          <p:cNvPr id="10" name="Content Placeholder 9">
            <a:extLst>
              <a:ext uri="{FF2B5EF4-FFF2-40B4-BE49-F238E27FC236}">
                <a16:creationId xmlns:a16="http://schemas.microsoft.com/office/drawing/2014/main" id="{D10456B2-4E10-402B-C1C8-A2649316D23E}"/>
              </a:ext>
            </a:extLst>
          </p:cNvPr>
          <p:cNvPicPr>
            <a:picLocks noGrp="1" noChangeAspect="1"/>
          </p:cNvPicPr>
          <p:nvPr>
            <p:ph idx="1"/>
          </p:nvPr>
        </p:nvPicPr>
        <p:blipFill>
          <a:blip r:embed="rId4"/>
          <a:stretch>
            <a:fillRect/>
          </a:stretch>
        </p:blipFill>
        <p:spPr>
          <a:xfrm>
            <a:off x="463057" y="1956813"/>
            <a:ext cx="4805134" cy="3591932"/>
          </a:xfrm>
          <a:prstGeom prst="rect">
            <a:avLst/>
          </a:prstGeom>
        </p:spPr>
      </p:pic>
      <p:pic>
        <p:nvPicPr>
          <p:cNvPr id="14" name="Picture 13">
            <a:extLst>
              <a:ext uri="{FF2B5EF4-FFF2-40B4-BE49-F238E27FC236}">
                <a16:creationId xmlns:a16="http://schemas.microsoft.com/office/drawing/2014/main" id="{80FCE508-11C0-4411-1195-55705303C5C1}"/>
              </a:ext>
            </a:extLst>
          </p:cNvPr>
          <p:cNvPicPr>
            <a:picLocks noChangeAspect="1"/>
          </p:cNvPicPr>
          <p:nvPr/>
        </p:nvPicPr>
        <p:blipFill>
          <a:blip r:embed="rId5"/>
          <a:stretch>
            <a:fillRect/>
          </a:stretch>
        </p:blipFill>
        <p:spPr>
          <a:xfrm>
            <a:off x="5972841" y="1956813"/>
            <a:ext cx="5237018" cy="3591932"/>
          </a:xfrm>
          <a:prstGeom prst="rect">
            <a:avLst/>
          </a:prstGeom>
        </p:spPr>
      </p:pic>
      <p:sp>
        <p:nvSpPr>
          <p:cNvPr id="15" name="Slide Number Placeholder 14">
            <a:extLst>
              <a:ext uri="{FF2B5EF4-FFF2-40B4-BE49-F238E27FC236}">
                <a16:creationId xmlns:a16="http://schemas.microsoft.com/office/drawing/2014/main" id="{9610BFA7-8083-C0D9-323F-2F86F8682CAD}"/>
              </a:ext>
            </a:extLst>
          </p:cNvPr>
          <p:cNvSpPr>
            <a:spLocks noGrp="1"/>
          </p:cNvSpPr>
          <p:nvPr>
            <p:ph type="sldNum" sz="quarter" idx="12"/>
          </p:nvPr>
        </p:nvSpPr>
        <p:spPr/>
        <p:txBody>
          <a:bodyPr/>
          <a:lstStyle/>
          <a:p>
            <a:fld id="{E20130F8-F9A9-449D-A6C4-25958723ED86}" type="slidenum">
              <a:rPr lang="en-IN" smtClean="0"/>
              <a:t>11</a:t>
            </a:fld>
            <a:endParaRPr lang="en-IN"/>
          </a:p>
        </p:txBody>
      </p:sp>
    </p:spTree>
    <p:extLst>
      <p:ext uri="{BB962C8B-B14F-4D97-AF65-F5344CB8AC3E}">
        <p14:creationId xmlns:p14="http://schemas.microsoft.com/office/powerpoint/2010/main" val="4025760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FDF8D-6B3B-BE50-D7A1-3D4567B2F2E0}"/>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FUTURE ENHANCEMENTS</a:t>
            </a:r>
          </a:p>
        </p:txBody>
      </p:sp>
      <p:sp>
        <p:nvSpPr>
          <p:cNvPr id="3" name="Content Placeholder 2">
            <a:extLst>
              <a:ext uri="{FF2B5EF4-FFF2-40B4-BE49-F238E27FC236}">
                <a16:creationId xmlns:a16="http://schemas.microsoft.com/office/drawing/2014/main" id="{F397396F-234C-3F41-194E-DE59C31CBD94}"/>
              </a:ext>
            </a:extLst>
          </p:cNvPr>
          <p:cNvSpPr>
            <a:spLocks noGrp="1"/>
          </p:cNvSpPr>
          <p:nvPr>
            <p:ph idx="1"/>
          </p:nvPr>
        </p:nvSpPr>
        <p:spPr>
          <a:xfrm>
            <a:off x="723900" y="2043834"/>
            <a:ext cx="10515600" cy="4351338"/>
          </a:xfrm>
        </p:spPr>
        <p:txBody>
          <a:bodyPr/>
          <a:lstStyle/>
          <a:p>
            <a:pPr lvl="0" algn="just"/>
            <a:r>
              <a:rPr lang="en-IN" dirty="0">
                <a:latin typeface="Times New Roman" panose="02020603050405020304" pitchFamily="18" charset="0"/>
                <a:cs typeface="Times New Roman" panose="02020603050405020304" pitchFamily="18" charset="0"/>
              </a:rPr>
              <a:t>Mobile application </a:t>
            </a:r>
          </a:p>
          <a:p>
            <a:pPr lvl="0" algn="just"/>
            <a:r>
              <a:rPr lang="en-IN" dirty="0">
                <a:latin typeface="Times New Roman" panose="02020603050405020304" pitchFamily="18" charset="0"/>
                <a:cs typeface="Times New Roman" panose="02020603050405020304" pitchFamily="18" charset="0"/>
              </a:rPr>
              <a:t>Real-time camera detection </a:t>
            </a:r>
          </a:p>
          <a:p>
            <a:pPr lvl="0" algn="just"/>
            <a:r>
              <a:rPr lang="en-IN" dirty="0">
                <a:latin typeface="Times New Roman" panose="02020603050405020304" pitchFamily="18" charset="0"/>
                <a:cs typeface="Times New Roman" panose="02020603050405020304" pitchFamily="18" charset="0"/>
              </a:rPr>
              <a:t>Support for more crops and diseases </a:t>
            </a:r>
          </a:p>
          <a:p>
            <a:pPr lvl="0" algn="just"/>
            <a:r>
              <a:rPr lang="en-IN" dirty="0">
                <a:latin typeface="Times New Roman" panose="02020603050405020304" pitchFamily="18" charset="0"/>
                <a:cs typeface="Times New Roman" panose="02020603050405020304" pitchFamily="18" charset="0"/>
              </a:rPr>
              <a:t>Multilingual support for farmers </a:t>
            </a:r>
          </a:p>
          <a:p>
            <a:pPr lvl="0" algn="just"/>
            <a:r>
              <a:rPr lang="en-IN" dirty="0">
                <a:latin typeface="Times New Roman" panose="02020603050405020304" pitchFamily="18" charset="0"/>
                <a:cs typeface="Times New Roman" panose="02020603050405020304" pitchFamily="18" charset="0"/>
              </a:rPr>
              <a:t>Weather-based disease prediction </a:t>
            </a:r>
          </a:p>
          <a:p>
            <a:pPr lvl="0" algn="just"/>
            <a:r>
              <a:rPr lang="en-IN" dirty="0">
                <a:latin typeface="Times New Roman" panose="02020603050405020304" pitchFamily="18" charset="0"/>
                <a:cs typeface="Times New Roman" panose="02020603050405020304" pitchFamily="18" charset="0"/>
              </a:rPr>
              <a:t>IoT-based smart farming integration </a:t>
            </a:r>
          </a:p>
          <a:p>
            <a:pPr lvl="0" algn="just"/>
            <a:r>
              <a:rPr lang="en-IN" dirty="0">
                <a:latin typeface="Times New Roman" panose="02020603050405020304" pitchFamily="18" charset="0"/>
                <a:cs typeface="Times New Roman" panose="02020603050405020304" pitchFamily="18" charset="0"/>
              </a:rPr>
              <a:t>Voice-based assistance</a:t>
            </a:r>
          </a:p>
          <a:p>
            <a:pPr algn="just"/>
            <a:endParaRPr lang="en-IN"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41E6E089-ED52-6DFE-F348-793E795E3FD6}"/>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6D60B9ED-EBA2-BD69-38F7-AEB749A24D04}"/>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pic>
        <p:nvPicPr>
          <p:cNvPr id="9" name="Picture 8">
            <a:extLst>
              <a:ext uri="{FF2B5EF4-FFF2-40B4-BE49-F238E27FC236}">
                <a16:creationId xmlns:a16="http://schemas.microsoft.com/office/drawing/2014/main" id="{5E1E4E94-4A7B-5055-C4D9-4991F3373AB0}"/>
              </a:ext>
            </a:extLst>
          </p:cNvPr>
          <p:cNvPicPr>
            <a:picLocks noChangeAspect="1"/>
          </p:cNvPicPr>
          <p:nvPr/>
        </p:nvPicPr>
        <p:blipFill>
          <a:blip r:embed="rId4"/>
          <a:stretch>
            <a:fillRect/>
          </a:stretch>
        </p:blipFill>
        <p:spPr>
          <a:xfrm>
            <a:off x="6784584" y="2174943"/>
            <a:ext cx="4925972" cy="3467321"/>
          </a:xfrm>
          <a:prstGeom prst="rect">
            <a:avLst/>
          </a:prstGeom>
        </p:spPr>
      </p:pic>
      <p:sp>
        <p:nvSpPr>
          <p:cNvPr id="4" name="Slide Number Placeholder 3">
            <a:extLst>
              <a:ext uri="{FF2B5EF4-FFF2-40B4-BE49-F238E27FC236}">
                <a16:creationId xmlns:a16="http://schemas.microsoft.com/office/drawing/2014/main" id="{3445D647-DE16-3F4E-A805-4E87E6F12D17}"/>
              </a:ext>
            </a:extLst>
          </p:cNvPr>
          <p:cNvSpPr>
            <a:spLocks noGrp="1"/>
          </p:cNvSpPr>
          <p:nvPr>
            <p:ph type="sldNum" sz="quarter" idx="12"/>
          </p:nvPr>
        </p:nvSpPr>
        <p:spPr/>
        <p:txBody>
          <a:bodyPr/>
          <a:lstStyle/>
          <a:p>
            <a:fld id="{E20130F8-F9A9-449D-A6C4-25958723ED86}" type="slidenum">
              <a:rPr lang="en-IN" smtClean="0"/>
              <a:t>12</a:t>
            </a:fld>
            <a:endParaRPr lang="en-IN"/>
          </a:p>
        </p:txBody>
      </p:sp>
    </p:spTree>
    <p:extLst>
      <p:ext uri="{BB962C8B-B14F-4D97-AF65-F5344CB8AC3E}">
        <p14:creationId xmlns:p14="http://schemas.microsoft.com/office/powerpoint/2010/main" val="2568673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74CA8F-6F3E-A46E-CDE1-560E63FF8E09}"/>
              </a:ext>
            </a:extLst>
          </p:cNvPr>
          <p:cNvSpPr txBox="1"/>
          <p:nvPr/>
        </p:nvSpPr>
        <p:spPr>
          <a:xfrm>
            <a:off x="4139381" y="471949"/>
            <a:ext cx="5319252"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C8073AB-1B78-1D20-D0CF-61552C691614}"/>
              </a:ext>
            </a:extLst>
          </p:cNvPr>
          <p:cNvSpPr txBox="1"/>
          <p:nvPr/>
        </p:nvSpPr>
        <p:spPr>
          <a:xfrm>
            <a:off x="1169639" y="2162091"/>
            <a:ext cx="9773264" cy="3416320"/>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The AI-Based Crop Disease Detection System is an effective solution for identifying plant diseases quickly and accurately using Artificial Intelligence and Deep Learning. By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images of crop leaves, the system enables early disease detection, helping farmers take timely corrective measures to reduce crop losses and improve productivity. It also minimizes the need for manual inspection, saves time, and supports efficient use of pesticides. Overall, this project contributes to smarter and more sustainable agricultural practices, improving crop health, increasing yield, and supporting food security.</a:t>
            </a:r>
          </a:p>
        </p:txBody>
      </p:sp>
      <p:pic>
        <p:nvPicPr>
          <p:cNvPr id="3" name="Picture 2">
            <a:extLst>
              <a:ext uri="{FF2B5EF4-FFF2-40B4-BE49-F238E27FC236}">
                <a16:creationId xmlns:a16="http://schemas.microsoft.com/office/drawing/2014/main" id="{A25F7115-5C39-E104-BBE5-29E1F6D3FE5A}"/>
              </a:ext>
            </a:extLst>
          </p:cNvPr>
          <p:cNvPicPr>
            <a:picLocks noChangeAspect="1"/>
          </p:cNvPicPr>
          <p:nvPr/>
        </p:nvPicPr>
        <p:blipFill>
          <a:blip r:embed="rId2">
            <a:lum/>
            <a:alphaModFix/>
          </a:blip>
          <a:srcRect/>
          <a:stretch>
            <a:fillRect/>
          </a:stretch>
        </p:blipFill>
        <p:spPr>
          <a:xfrm>
            <a:off x="127800" y="99000"/>
            <a:ext cx="1041839" cy="957600"/>
          </a:xfrm>
          <a:prstGeom prst="rect">
            <a:avLst/>
          </a:prstGeom>
          <a:noFill/>
          <a:ln>
            <a:noFill/>
          </a:ln>
        </p:spPr>
      </p:pic>
      <p:pic>
        <p:nvPicPr>
          <p:cNvPr id="7" name="Picture 6">
            <a:extLst>
              <a:ext uri="{FF2B5EF4-FFF2-40B4-BE49-F238E27FC236}">
                <a16:creationId xmlns:a16="http://schemas.microsoft.com/office/drawing/2014/main" id="{59CCA29F-13A1-46BE-6272-84AE7FF44B6C}"/>
              </a:ext>
            </a:extLst>
          </p:cNvPr>
          <p:cNvPicPr>
            <a:picLocks noChangeAspect="1"/>
          </p:cNvPicPr>
          <p:nvPr/>
        </p:nvPicPr>
        <p:blipFill>
          <a:blip r:embed="rId3">
            <a:lum/>
            <a:alphaModFix/>
          </a:blip>
          <a:srcRect/>
          <a:stretch>
            <a:fillRect/>
          </a:stretch>
        </p:blipFill>
        <p:spPr>
          <a:xfrm>
            <a:off x="11041920" y="99000"/>
            <a:ext cx="1021679" cy="1110240"/>
          </a:xfrm>
          <a:prstGeom prst="rect">
            <a:avLst/>
          </a:prstGeom>
          <a:noFill/>
          <a:ln>
            <a:noFill/>
          </a:ln>
        </p:spPr>
      </p:pic>
      <p:sp>
        <p:nvSpPr>
          <p:cNvPr id="2" name="Slide Number Placeholder 1">
            <a:extLst>
              <a:ext uri="{FF2B5EF4-FFF2-40B4-BE49-F238E27FC236}">
                <a16:creationId xmlns:a16="http://schemas.microsoft.com/office/drawing/2014/main" id="{5CD0BAA4-2495-C7C0-DC94-814B305E1006}"/>
              </a:ext>
            </a:extLst>
          </p:cNvPr>
          <p:cNvSpPr>
            <a:spLocks noGrp="1"/>
          </p:cNvSpPr>
          <p:nvPr>
            <p:ph type="sldNum" sz="quarter" idx="12"/>
          </p:nvPr>
        </p:nvSpPr>
        <p:spPr/>
        <p:txBody>
          <a:bodyPr/>
          <a:lstStyle/>
          <a:p>
            <a:fld id="{E20130F8-F9A9-449D-A6C4-25958723ED86}" type="slidenum">
              <a:rPr lang="en-IN" smtClean="0"/>
              <a:t>13</a:t>
            </a:fld>
            <a:endParaRPr lang="en-IN"/>
          </a:p>
        </p:txBody>
      </p:sp>
    </p:spTree>
    <p:extLst>
      <p:ext uri="{BB962C8B-B14F-4D97-AF65-F5344CB8AC3E}">
        <p14:creationId xmlns:p14="http://schemas.microsoft.com/office/powerpoint/2010/main" val="1729139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25E29-29EE-7878-F1BF-2631EF49503A}"/>
              </a:ext>
            </a:extLst>
          </p:cNvPr>
          <p:cNvSpPr txBox="1"/>
          <p:nvPr/>
        </p:nvSpPr>
        <p:spPr>
          <a:xfrm>
            <a:off x="2243570" y="2992581"/>
            <a:ext cx="7704860" cy="1107996"/>
          </a:xfrm>
          <a:prstGeom prst="rect">
            <a:avLst/>
          </a:prstGeom>
          <a:noFill/>
        </p:spPr>
        <p:txBody>
          <a:bodyPr wrap="square" rtlCol="0">
            <a:spAutoFit/>
          </a:bodyPr>
          <a:lstStyle/>
          <a:p>
            <a:r>
              <a:rPr lang="en-IN" sz="6600" dirty="0">
                <a:latin typeface="Algerian" panose="04020705040A02060702" pitchFamily="82" charset="0"/>
              </a:rPr>
              <a:t>THANK YOU…</a:t>
            </a:r>
          </a:p>
        </p:txBody>
      </p:sp>
      <p:sp>
        <p:nvSpPr>
          <p:cNvPr id="3" name="Slide Number Placeholder 2">
            <a:extLst>
              <a:ext uri="{FF2B5EF4-FFF2-40B4-BE49-F238E27FC236}">
                <a16:creationId xmlns:a16="http://schemas.microsoft.com/office/drawing/2014/main" id="{26AB517D-1FA9-8170-E0AF-FFBC475D6231}"/>
              </a:ext>
            </a:extLst>
          </p:cNvPr>
          <p:cNvSpPr>
            <a:spLocks noGrp="1"/>
          </p:cNvSpPr>
          <p:nvPr>
            <p:ph type="sldNum" sz="quarter" idx="12"/>
          </p:nvPr>
        </p:nvSpPr>
        <p:spPr/>
        <p:txBody>
          <a:bodyPr/>
          <a:lstStyle/>
          <a:p>
            <a:fld id="{E20130F8-F9A9-449D-A6C4-25958723ED86}" type="slidenum">
              <a:rPr lang="en-IN" smtClean="0"/>
              <a:t>14</a:t>
            </a:fld>
            <a:endParaRPr lang="en-IN"/>
          </a:p>
        </p:txBody>
      </p:sp>
    </p:spTree>
    <p:extLst>
      <p:ext uri="{BB962C8B-B14F-4D97-AF65-F5344CB8AC3E}">
        <p14:creationId xmlns:p14="http://schemas.microsoft.com/office/powerpoint/2010/main" val="3414494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671</Words>
  <Application>Microsoft Office PowerPoint</Application>
  <PresentationFormat>Widescreen</PresentationFormat>
  <Paragraphs>85</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Algerian</vt:lpstr>
      <vt:lpstr>Aptos</vt:lpstr>
      <vt:lpstr>Arial</vt:lpstr>
      <vt:lpstr>Calibri</vt:lpstr>
      <vt:lpstr>Calibri Light</vt:lpstr>
      <vt:lpstr>Times New Roman</vt:lpstr>
      <vt:lpstr>Wingdings</vt:lpstr>
      <vt:lpstr>Office Theme</vt:lpstr>
      <vt:lpstr>AI BASED CROP DISEASE DETECTION  CSA1711-Artificial Intelligence</vt:lpstr>
      <vt:lpstr>PowerPoint Presentation</vt:lpstr>
      <vt:lpstr>PROBLEM STATEMENT</vt:lpstr>
      <vt:lpstr>                              OBJECTIVES:</vt:lpstr>
      <vt:lpstr>PROPOSED SYSTEM</vt:lpstr>
      <vt:lpstr>SYSTEM ARCHITECTURE</vt:lpstr>
      <vt:lpstr>PowerPoint Presentation</vt:lpstr>
      <vt:lpstr>PowerPoint Presentation</vt:lpstr>
      <vt:lpstr>MODULE-3</vt:lpstr>
      <vt:lpstr>Implementation output</vt:lpstr>
      <vt:lpstr>Implementation output</vt:lpstr>
      <vt:lpstr>FUTURE ENHANCEMENTS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Mythili</dc:creator>
  <cp:lastModifiedBy>ROOBINI S</cp:lastModifiedBy>
  <cp:revision>6</cp:revision>
  <dcterms:created xsi:type="dcterms:W3CDTF">2026-07-25T03:50:35Z</dcterms:created>
  <dcterms:modified xsi:type="dcterms:W3CDTF">2026-08-27T03:20:06Z</dcterms:modified>
</cp:coreProperties>
</file>